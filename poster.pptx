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999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999" cy="4280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0000" y="540000"/>
            <a:ext cx="28475999" cy="396000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88000" y="756000"/>
            <a:ext cx="7200000" cy="43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AMASYA UNIVERSITESI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000" y="1260000"/>
            <a:ext cx="1080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800" b="0">
                <a:solidFill>
                  <a:srgbClr val="CFFAFE"/>
                </a:solidFill>
                <a:latin typeface="Calibri"/>
              </a:rPr>
              <a:t>Muhendislik Fakultesi  |  Bilgisayar Muhendisligi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000" y="1836000"/>
            <a:ext cx="27899999" cy="151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Calibri"/>
              </a:rPr>
              <a:t>COK ORGANIZASYONLU AI DESTEKLI</a:t>
            </a:r>
          </a:p>
          <a:p>
            <a:pPr algn="l"/>
            <a:r>
              <a:rPr sz="5800" b="1">
                <a:solidFill>
                  <a:srgbClr val="FFFFFF"/>
                </a:solidFill>
                <a:latin typeface="Calibri"/>
              </a:rPr>
              <a:t>PROJE YONETIM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3636000"/>
            <a:ext cx="1440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Hazirlayan: Metin Karyagdi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4068000"/>
            <a:ext cx="1440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2000" b="0">
                <a:solidFill>
                  <a:srgbClr val="CFFAFE"/>
                </a:solidFill>
                <a:latin typeface="Calibri"/>
              </a:rPr>
              <a:t>Danisman: [DANISMAN ADI]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75999" y="3636000"/>
            <a:ext cx="504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Calibri"/>
              </a:rPr>
              <a:t>Bitirme Projesi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4860000"/>
            <a:ext cx="28475999" cy="576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3600" b="1">
                <a:solidFill>
                  <a:srgbClr val="1E3A8A"/>
                </a:solidFill>
                <a:latin typeface="Calibri"/>
              </a:rPr>
              <a:t>OZET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0000" y="5472000"/>
            <a:ext cx="28475999" cy="0"/>
          </a:xfrm>
          <a:prstGeom prst="line">
            <a:avLst/>
          </a:prstGeom>
          <a:ln w="381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0000" y="5652000"/>
            <a:ext cx="28475999" cy="216000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80000" y="5796000"/>
            <a:ext cx="28115999" cy="187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Bu proje; cok-organizasyonlu (multi-tenant) bir proje yonetim sistemi olup, ekiplerin issue ve sprint takibini kolaylastirmak icin yerel calisan, ince-ayarli (fine-tuned) bir buyuk dil modeli ile entegre edilmistir. Mikroservis mimarisi, olay-tabanli (event-driven) iletisim ve organizasyon bazli izolasyon prensipleri uzerine kurulmustur. Veri gizliligi icin AI tamamen yerel cihazda calisir; hicbir ekip verisi disariya cikmaz.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8172000"/>
            <a:ext cx="28475999" cy="576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3600" b="1">
                <a:solidFill>
                  <a:srgbClr val="1E3A8A"/>
                </a:solidFill>
                <a:latin typeface="Calibri"/>
              </a:rPr>
              <a:t>PROBLEM &amp; AMAC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0000" y="8784000"/>
            <a:ext cx="28475999" cy="0"/>
          </a:xfrm>
          <a:prstGeom prst="line">
            <a:avLst/>
          </a:prstGeom>
          <a:ln w="381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0000" y="8964000"/>
            <a:ext cx="14057999" cy="39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80000" y="9072000"/>
            <a:ext cx="13697999" cy="43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2600" b="1">
                <a:solidFill>
                  <a:srgbClr val="1E3A8A"/>
                </a:solidFill>
                <a:latin typeface="Calibri"/>
              </a:rPr>
              <a:t>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9576000"/>
            <a:ext cx="13697999" cy="324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Calibri"/>
              </a:rPr>
              <a:t>• Klasik proje yonetim araclari tek-tenant veya pahali SaaS</a:t>
            </a:r>
          </a:p>
          <a:p>
            <a:pPr algn="l"/>
            <a:r>
              <a:rPr sz="2000" b="0">
                <a:solidFill>
                  <a:srgbClr val="1F2937"/>
                </a:solidFill>
                <a:latin typeface="Calibri"/>
              </a:rPr>
              <a:t>• AI ozellikleri bulut modellerine bagli (OpenAI vs.) -&gt; veri gizliligi riski</a:t>
            </a:r>
          </a:p>
          <a:p>
            <a:pPr algn="l"/>
            <a:r>
              <a:rPr sz="2000" b="0">
                <a:solidFill>
                  <a:srgbClr val="1F2937"/>
                </a:solidFill>
                <a:latin typeface="Calibri"/>
              </a:rPr>
              <a:t>• Ekipler farkli organizasyonlarda izole calisamiyor</a:t>
            </a:r>
          </a:p>
          <a:p>
            <a:pPr algn="l"/>
            <a:r>
              <a:rPr sz="2000" b="0">
                <a:solidFill>
                  <a:srgbClr val="1F2937"/>
                </a:solidFill>
                <a:latin typeface="Calibri"/>
              </a:rPr>
              <a:t>• Sprint analizi ve issue zenginlestirme manuel yapiliyor</a:t>
            </a:r>
          </a:p>
          <a:p>
            <a:pPr algn="l"/>
            <a:r>
              <a:rPr sz="2000" b="0">
                <a:solidFill>
                  <a:srgbClr val="1F2937"/>
                </a:solidFill>
                <a:latin typeface="Calibri"/>
              </a:rPr>
              <a:t>• Olay tabanli mimariler kucuk takimlar icin karmasik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317999" y="8964000"/>
            <a:ext cx="14057999" cy="39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5497999" y="9072000"/>
            <a:ext cx="13697999" cy="43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2600" b="1">
                <a:solidFill>
                  <a:srgbClr val="06B6D4"/>
                </a:solidFill>
                <a:latin typeface="Calibri"/>
              </a:rPr>
              <a:t>AMAC &amp; KATKI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497999" y="9576000"/>
            <a:ext cx="13697999" cy="324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Calibri"/>
              </a:rPr>
              <a:t>✓ Cok organizasyonlu, izole ekip yonetimi</a:t>
            </a:r>
          </a:p>
          <a:p>
            <a:pPr algn="l"/>
            <a:r>
              <a:rPr sz="2000" b="0">
                <a:solidFill>
                  <a:srgbClr val="1F2937"/>
                </a:solidFill>
                <a:latin typeface="Calibri"/>
              </a:rPr>
              <a:t>✓ Yerel calisan AI asistan (bp-agent)</a:t>
            </a:r>
          </a:p>
          <a:p>
            <a:pPr algn="l"/>
            <a:r>
              <a:rPr sz="2000" b="0">
                <a:solidFill>
                  <a:srgbClr val="1F2937"/>
                </a:solidFill>
                <a:latin typeface="Calibri"/>
              </a:rPr>
              <a:t>✓ Mikroservis + RabbitMQ olay-tabanli mimari</a:t>
            </a:r>
          </a:p>
          <a:p>
            <a:pPr algn="l"/>
            <a:r>
              <a:rPr sz="2000" b="0">
                <a:solidFill>
                  <a:srgbClr val="1F2937"/>
                </a:solidFill>
                <a:latin typeface="Calibri"/>
              </a:rPr>
              <a:t>✓ Otomatik sprint analizi ve issue zenginlestirme</a:t>
            </a:r>
          </a:p>
          <a:p>
            <a:pPr algn="l"/>
            <a:r>
              <a:rPr sz="2000" b="0">
                <a:solidFill>
                  <a:srgbClr val="1F2937"/>
                </a:solidFill>
                <a:latin typeface="Calibri"/>
              </a:rPr>
              <a:t>✓ Davet-tabanli rol yonetimi (Owner/Manager/Member)</a:t>
            </a:r>
          </a:p>
          <a:p>
            <a:pPr algn="l"/>
            <a:r>
              <a:rPr sz="2000" b="0">
                <a:solidFill>
                  <a:srgbClr val="1F2937"/>
                </a:solidFill>
                <a:latin typeface="Calibri"/>
              </a:rPr>
              <a:t>✓ SignalR ile gercek-zamanli bildirim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000" y="13464000"/>
            <a:ext cx="28475999" cy="576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3600" b="1">
                <a:solidFill>
                  <a:srgbClr val="1E3A8A"/>
                </a:solidFill>
                <a:latin typeface="Calibri"/>
              </a:rPr>
              <a:t>SISTEM MIMARISI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0000" y="14076000"/>
            <a:ext cx="28475999" cy="0"/>
          </a:xfrm>
          <a:prstGeom prst="line">
            <a:avLst/>
          </a:prstGeom>
          <a:ln w="381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0000" y="14256000"/>
            <a:ext cx="28475999" cy="12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260000" y="14544000"/>
            <a:ext cx="27755999" cy="93600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FRONTEND  -  React + TypeScript + SignalR Client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4993999" y="15516000"/>
            <a:ext cx="288000" cy="36000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260000" y="15948000"/>
            <a:ext cx="27755999" cy="93600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API GATEWAY  -  YARP Reverse Proxy + JWT Auth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14993999" y="16920000"/>
            <a:ext cx="288000" cy="36000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260000" y="17352000"/>
            <a:ext cx="3779999" cy="162000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60000" y="17496000"/>
            <a:ext cx="3779999" cy="43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2000" b="1">
                <a:solidFill>
                  <a:srgbClr val="1E3A8A"/>
                </a:solidFill>
                <a:latin typeface="Calibri"/>
              </a:rPr>
              <a:t>Identity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0000" y="17928000"/>
            <a:ext cx="3779999" cy="97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.NET 8</a:t>
            </a:r>
          </a:p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WebAPI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55999" y="17352000"/>
            <a:ext cx="3779999" cy="162000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255999" y="17496000"/>
            <a:ext cx="3779999" cy="43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2000" b="1">
                <a:solidFill>
                  <a:srgbClr val="1E3A8A"/>
                </a:solidFill>
                <a:latin typeface="Calibri"/>
              </a:rPr>
              <a:t>Projects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5999" y="17928000"/>
            <a:ext cx="3779999" cy="97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.NET 8</a:t>
            </a:r>
          </a:p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WebAPI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51999" y="17352000"/>
            <a:ext cx="3779999" cy="162000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251999" y="17496000"/>
            <a:ext cx="3779999" cy="43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2000" b="1">
                <a:solidFill>
                  <a:srgbClr val="1E3A8A"/>
                </a:solidFill>
                <a:latin typeface="Calibri"/>
              </a:rPr>
              <a:t>Issues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51999" y="17928000"/>
            <a:ext cx="3779999" cy="97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.NET 8</a:t>
            </a:r>
          </a:p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WebAPI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247999" y="17352000"/>
            <a:ext cx="3779999" cy="162000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3247999" y="17496000"/>
            <a:ext cx="3779999" cy="43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2000" b="1">
                <a:solidFill>
                  <a:srgbClr val="1E3A8A"/>
                </a:solidFill>
                <a:latin typeface="Calibri"/>
              </a:rPr>
              <a:t>Sprints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47999" y="17928000"/>
            <a:ext cx="3779999" cy="97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.NET 8</a:t>
            </a:r>
          </a:p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WebAPI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7243999" y="17352000"/>
            <a:ext cx="3779999" cy="162000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7243999" y="17496000"/>
            <a:ext cx="3779999" cy="43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2000" b="1">
                <a:solidFill>
                  <a:srgbClr val="1E3A8A"/>
                </a:solidFill>
                <a:latin typeface="Calibri"/>
              </a:rPr>
              <a:t>Storage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243999" y="17928000"/>
            <a:ext cx="3779999" cy="97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.NET 8</a:t>
            </a:r>
          </a:p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WebAPI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1239999" y="17352000"/>
            <a:ext cx="3779999" cy="162000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21239999" y="17496000"/>
            <a:ext cx="3779999" cy="43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2000" b="1">
                <a:solidFill>
                  <a:srgbClr val="1E3A8A"/>
                </a:solidFill>
                <a:latin typeface="Calibri"/>
              </a:rPr>
              <a:t>Notifications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239999" y="17928000"/>
            <a:ext cx="3779999" cy="97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.NET 8</a:t>
            </a:r>
          </a:p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WebAPI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235999" y="17352000"/>
            <a:ext cx="3779999" cy="162000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25235999" y="17496000"/>
            <a:ext cx="3779999" cy="43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2000" b="1">
                <a:solidFill>
                  <a:srgbClr val="1E3A8A"/>
                </a:solidFill>
                <a:latin typeface="Calibri"/>
              </a:rPr>
              <a:t>BFF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235999" y="17928000"/>
            <a:ext cx="3779999" cy="97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.NET 8</a:t>
            </a:r>
          </a:p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WebAPI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60000" y="19008000"/>
            <a:ext cx="27755999" cy="288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Mikroservisler  -  .NET 8 + EF Core + CQRS/MediatR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60000" y="19440000"/>
            <a:ext cx="27755999" cy="864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RabbitMQ  -  Outbox Pattern + Event-Driven Communication</a:t>
            </a:r>
          </a:p>
        </p:txBody>
      </p:sp>
      <p:sp>
        <p:nvSpPr>
          <p:cNvPr id="52" name="Down Arrow 51"/>
          <p:cNvSpPr/>
          <p:nvPr/>
        </p:nvSpPr>
        <p:spPr>
          <a:xfrm>
            <a:off x="14993999" y="20340000"/>
            <a:ext cx="288000" cy="36000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260000" y="20772000"/>
            <a:ext cx="27755999" cy="1152000"/>
          </a:xfrm>
          <a:prstGeom prst="roundRect">
            <a:avLst/>
          </a:prstGeom>
          <a:solidFill>
            <a:srgbClr val="1E3A8A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/>
          <a:lstStyle/>
          <a:p>
            <a:pPr algn="ctr"/>
            <a:r>
              <a:rPr sz="2800" b="1">
                <a:solidFill>
                  <a:srgbClr val="06B6D4"/>
                </a:solidFill>
                <a:latin typeface="Calibri"/>
              </a:rPr>
              <a:t>AI SERVICE - bp-agent</a:t>
            </a:r>
          </a:p>
          <a:p>
            <a:pPr algn="ctr"/>
            <a:r>
              <a:rPr sz="2000">
                <a:solidFill>
                  <a:srgbClr val="FFFFFF"/>
                </a:solidFill>
                <a:latin typeface="Calibri"/>
              </a:rPr>
              <a:t>Ollama + Gemma3:4b Fine-tuned (LoRA + GGUF)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60000" y="22284000"/>
            <a:ext cx="13733999" cy="93600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PostgreSQL  -  Persistent Data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5281999" y="22284000"/>
            <a:ext cx="13733999" cy="93600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Redis  -  Cache &amp; Session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000" y="27036000"/>
            <a:ext cx="28475999" cy="576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3600" b="1">
                <a:solidFill>
                  <a:srgbClr val="1E3A8A"/>
                </a:solidFill>
                <a:latin typeface="Calibri"/>
              </a:rPr>
              <a:t>AI ASISTAN ORNEK DIYALOG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00000" y="27648000"/>
            <a:ext cx="28475999" cy="0"/>
          </a:xfrm>
          <a:prstGeom prst="line">
            <a:avLst/>
          </a:prstGeom>
          <a:ln w="381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900000" y="27828000"/>
            <a:ext cx="28475999" cy="46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1260000" y="28116000"/>
            <a:ext cx="12240000" cy="162000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403999" y="28188000"/>
            <a:ext cx="1188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KULLANICI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03999" y="28548000"/>
            <a:ext cx="11880000" cy="108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Sprint 12'nin durumunu ozetler misin? Hangi issue'lar bekliyor?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175999" y="29988000"/>
            <a:ext cx="15840000" cy="23400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3355999" y="30060000"/>
            <a:ext cx="1548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Calibri"/>
              </a:rPr>
              <a:t>bp-agent (AI)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355999" y="30420000"/>
            <a:ext cx="15480000" cy="180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Sprint 12: 18 issue / 14 tamamlandi, 4 acik.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  - 2 issue 'Blocked' (PROJ-142, PROJ-156)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  - 1 issue 'In Progress' (Ahmet, gecikme: 2 gun)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  - Tahmini bitirme: 9 Mayis (sprint sonu: 10 Mayis)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Oneriler: Blocker'lari oncelendirin; sprint riski DUSUK.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0000" y="33048000"/>
            <a:ext cx="28475999" cy="576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3600" b="1">
                <a:solidFill>
                  <a:srgbClr val="1E3A8A"/>
                </a:solidFill>
                <a:latin typeface="Calibri"/>
              </a:rPr>
              <a:t>TEKNOLOJI STACK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00000" y="33660000"/>
            <a:ext cx="28475999" cy="0"/>
          </a:xfrm>
          <a:prstGeom prst="line">
            <a:avLst/>
          </a:prstGeom>
          <a:ln w="381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900000" y="33840000"/>
            <a:ext cx="28475999" cy="25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116000" y="33984000"/>
            <a:ext cx="2880000" cy="55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200" b="1">
                <a:solidFill>
                  <a:srgbClr val="06B6D4"/>
                </a:solidFill>
                <a:latin typeface="Calibri"/>
              </a:rPr>
              <a:t>Frontend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40000" y="33984000"/>
            <a:ext cx="25055999" cy="55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Calibri"/>
              </a:rPr>
              <a:t>React 18, TypeScript, Vite, TailwindCSS, SignalR Client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6000" y="34542000"/>
            <a:ext cx="2880000" cy="55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200" b="1">
                <a:solidFill>
                  <a:srgbClr val="06B6D4"/>
                </a:solidFill>
                <a:latin typeface="Calibri"/>
              </a:rPr>
              <a:t>Backend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40000" y="34542000"/>
            <a:ext cx="25055999" cy="55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Calibri"/>
              </a:rPr>
              <a:t>.NET 8, ASP.NET Core, EF Core, MediatR (CQRS), AutoMapper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6000" y="35100000"/>
            <a:ext cx="2880000" cy="55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200" b="1">
                <a:solidFill>
                  <a:srgbClr val="06B6D4"/>
                </a:solidFill>
                <a:latin typeface="Calibri"/>
              </a:rPr>
              <a:t>AI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40000" y="35100000"/>
            <a:ext cx="25055999" cy="55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Calibri"/>
              </a:rPr>
              <a:t>Python, FastAPI, Ollama, Gemma3:4b, LoRA Fine-tune, llama.cpp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16000" y="35658000"/>
            <a:ext cx="2880000" cy="55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200" b="1">
                <a:solidFill>
                  <a:srgbClr val="06B6D4"/>
                </a:solidFill>
                <a:latin typeface="Calibri"/>
              </a:rPr>
              <a:t>Altyapi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40000" y="35658000"/>
            <a:ext cx="25055999" cy="558000"/>
          </a:xfrm>
          <a:prstGeom prst="rect">
            <a:avLst/>
          </a:prstGeom>
          <a:noFill/>
        </p:spPr>
        <p:txBody>
          <a:bodyPr wrap="square" lIns="72000" rIns="72000" tIns="36000" bIns="36000" anchor="ctr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Calibri"/>
              </a:rPr>
              <a:t>PostgreSQL, Redis, RabbitMQ, Docker, Seq (logging), MailHog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0000" y="36900000"/>
            <a:ext cx="28475999" cy="576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3600" b="1">
                <a:solidFill>
                  <a:srgbClr val="1E3A8A"/>
                </a:solidFill>
                <a:latin typeface="Calibri"/>
              </a:rPr>
              <a:t>UYGULAMA EKRANLARI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00000" y="37512000"/>
            <a:ext cx="28475999" cy="0"/>
          </a:xfrm>
          <a:prstGeom prst="line">
            <a:avLst/>
          </a:prstGeom>
          <a:ln w="381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900000" y="37692000"/>
            <a:ext cx="9251999" cy="3960000"/>
          </a:xfrm>
          <a:prstGeom prst="roundRect">
            <a:avLst/>
          </a:prstGeom>
          <a:solidFill>
            <a:srgbClr val="CFFAFE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900000" y="38592000"/>
            <a:ext cx="9251999" cy="54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1800" b="1">
                <a:solidFill>
                  <a:srgbClr val="6B7280"/>
                </a:solidFill>
                <a:latin typeface="Calibri"/>
              </a:rPr>
              <a:t>[ EKRAN GORUNTUSU 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0000" y="39672000"/>
            <a:ext cx="9251999" cy="503999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2400" b="1">
                <a:solidFill>
                  <a:srgbClr val="1E3A8A"/>
                </a:solidFill>
                <a:latin typeface="Calibri"/>
              </a:rPr>
              <a:t>Issue Board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0000" y="40212000"/>
            <a:ext cx="9251999" cy="108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Calibri"/>
              </a:rPr>
              <a:t>Sprint icindeki issue'larin</a:t>
            </a:r>
          </a:p>
          <a:p>
            <a:pPr algn="ctr"/>
            <a:r>
              <a:rPr sz="1800" b="0">
                <a:solidFill>
                  <a:srgbClr val="1F2937"/>
                </a:solidFill>
                <a:latin typeface="Calibri"/>
              </a:rPr>
              <a:t>Kanban tahtasi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511999" y="37692000"/>
            <a:ext cx="9251999" cy="3960000"/>
          </a:xfrm>
          <a:prstGeom prst="roundRect">
            <a:avLst/>
          </a:prstGeom>
          <a:solidFill>
            <a:srgbClr val="CFFAFE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10511999" y="38592000"/>
            <a:ext cx="9251999" cy="54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1800" b="1">
                <a:solidFill>
                  <a:srgbClr val="6B7280"/>
                </a:solidFill>
                <a:latin typeface="Calibri"/>
              </a:rPr>
              <a:t>[ EKRAN GORUNTUSU 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11999" y="39672000"/>
            <a:ext cx="9251999" cy="503999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2400" b="1">
                <a:solidFill>
                  <a:srgbClr val="1E3A8A"/>
                </a:solidFill>
                <a:latin typeface="Calibri"/>
              </a:rPr>
              <a:t>AI Asistan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11999" y="40212000"/>
            <a:ext cx="9251999" cy="108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Calibri"/>
              </a:rPr>
              <a:t>bp-agent ile sohbet</a:t>
            </a:r>
          </a:p>
          <a:p>
            <a:pPr algn="ctr"/>
            <a:r>
              <a:rPr sz="1800" b="0">
                <a:solidFill>
                  <a:srgbClr val="1F2937"/>
                </a:solidFill>
                <a:latin typeface="Calibri"/>
              </a:rPr>
              <a:t>ve oneriler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0123999" y="37692000"/>
            <a:ext cx="9251999" cy="3960000"/>
          </a:xfrm>
          <a:prstGeom prst="roundRect">
            <a:avLst/>
          </a:prstGeom>
          <a:solidFill>
            <a:srgbClr val="CFFAFE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20123999" y="38592000"/>
            <a:ext cx="9251999" cy="54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1800" b="1">
                <a:solidFill>
                  <a:srgbClr val="6B7280"/>
                </a:solidFill>
                <a:latin typeface="Calibri"/>
              </a:rPr>
              <a:t>[ EKRAN GORUNTUSU 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123999" y="39672000"/>
            <a:ext cx="9251999" cy="503999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2400" b="1">
                <a:solidFill>
                  <a:srgbClr val="1E3A8A"/>
                </a:solidFill>
                <a:latin typeface="Calibri"/>
              </a:rPr>
              <a:t>Sprint Analytics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123999" y="40212000"/>
            <a:ext cx="9251999" cy="108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Calibri"/>
              </a:rPr>
              <a:t>Sprint metrikleri</a:t>
            </a:r>
          </a:p>
          <a:p>
            <a:pPr algn="ctr"/>
            <a:r>
              <a:rPr sz="1800" b="0">
                <a:solidFill>
                  <a:srgbClr val="1F2937"/>
                </a:solidFill>
                <a:latin typeface="Calibri"/>
              </a:rPr>
              <a:t>ve burndown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0000" y="42192000"/>
            <a:ext cx="28475999" cy="576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3600" b="1">
                <a:solidFill>
                  <a:srgbClr val="1E3A8A"/>
                </a:solidFill>
                <a:latin typeface="Calibri"/>
              </a:rPr>
              <a:t>SONUCLAR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900000" y="42804000"/>
            <a:ext cx="28475999" cy="0"/>
          </a:xfrm>
          <a:prstGeom prst="line">
            <a:avLst/>
          </a:prstGeom>
          <a:ln w="381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900000" y="42984000"/>
            <a:ext cx="24155999" cy="288000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1116000" y="43128000"/>
            <a:ext cx="23723999" cy="259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✓  210 / 210 birim &amp; entegrasyon testi gecti</a:t>
            </a:r>
          </a:p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✓  7 mikroservis + Gateway + AI servisi calisir durumda</a:t>
            </a:r>
          </a:p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✓  Yerel AI ile veri gizliligi (sifir disari cikan veri)</a:t>
            </a:r>
          </a:p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✓  Cok-organizasyon izolasyonu (multi-tenant) saglandi</a:t>
            </a:r>
          </a:p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✓  Olay-tabanli mimari (Outbox + RabbitMQ) entegre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5415999" y="42984000"/>
            <a:ext cx="3960000" cy="28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25415999" y="43128000"/>
            <a:ext cx="3960000" cy="432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2200" b="1">
                <a:solidFill>
                  <a:srgbClr val="1E3A8A"/>
                </a:solidFill>
                <a:latin typeface="Calibri"/>
              </a:rPr>
              <a:t>Proje Repo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5415999" y="43560000"/>
            <a:ext cx="396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[ QR KOD ]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6405999" y="43848000"/>
            <a:ext cx="1980000" cy="19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26405999" y="44658000"/>
            <a:ext cx="1980000" cy="360000"/>
          </a:xfrm>
          <a:prstGeom prst="rect">
            <a:avLst/>
          </a:prstGeom>
          <a:noFill/>
        </p:spPr>
        <p:txBody>
          <a:bodyPr wrap="square" lIns="72000" rIns="72000" tIns="36000" bIns="3600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QR</a:t>
            </a:r>
          </a:p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buraya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